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353" r:id="rId4"/>
    <p:sldId id="364" r:id="rId5"/>
    <p:sldId id="374" r:id="rId6"/>
    <p:sldId id="365" r:id="rId7"/>
    <p:sldId id="366" r:id="rId8"/>
    <p:sldId id="367" r:id="rId9"/>
    <p:sldId id="368" r:id="rId10"/>
    <p:sldId id="369" r:id="rId11"/>
    <p:sldId id="371" r:id="rId12"/>
    <p:sldId id="372" r:id="rId13"/>
    <p:sldId id="304" r:id="rId14"/>
  </p:sldIdLst>
  <p:sldSz cx="9144000" cy="6858000" type="screen4x3"/>
  <p:notesSz cx="6797675" cy="992632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B6966E"/>
    <a:srgbClr val="F56C6C"/>
    <a:srgbClr val="0000FF"/>
    <a:srgbClr val="909399"/>
    <a:srgbClr val="DCDFE6"/>
    <a:srgbClr val="409EFF"/>
    <a:srgbClr val="982F58"/>
    <a:srgbClr val="009242"/>
    <a:srgbClr val="345A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70" autoAdjust="0"/>
  </p:normalViewPr>
  <p:slideViewPr>
    <p:cSldViewPr>
      <p:cViewPr varScale="1">
        <p:scale>
          <a:sx n="61" d="100"/>
          <a:sy n="61" d="100"/>
        </p:scale>
        <p:origin x="832" y="48"/>
      </p:cViewPr>
      <p:guideLst>
        <p:guide orient="horz" pos="2122"/>
        <p:guide pos="2903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-5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5753" cy="4980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569" y="3"/>
            <a:ext cx="2945753" cy="4980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855EC5D-827F-446D-A19C-5C40320BB13D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3" y="9428282"/>
            <a:ext cx="2945753" cy="498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569" y="9428282"/>
            <a:ext cx="2945753" cy="498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1F5A3264-24E1-4E84-BCB3-20F396AB8475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45753" cy="4980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569" y="3"/>
            <a:ext cx="2945753" cy="4980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7D435-EB05-4CBF-BF98-48E0CB6EBB51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67726" y="1242529"/>
            <a:ext cx="4462440" cy="334740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90" y="4777041"/>
            <a:ext cx="5438314" cy="3908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3" y="9428282"/>
            <a:ext cx="2945753" cy="498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569" y="9428282"/>
            <a:ext cx="2945753" cy="498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69B54-B4BA-49F0-89A5-734453610505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021288"/>
            <a:ext cx="3276600" cy="68345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>
          <a:xfrm>
            <a:off x="519430" y="179070"/>
            <a:ext cx="8229600" cy="584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algn="ctr"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algn="ctr"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algn="ctr"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algn="ctr"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18864" y="44624"/>
            <a:ext cx="8229600" cy="706090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972520" y="284292"/>
            <a:ext cx="2133600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5956"/>
            <a:ext cx="9144000" cy="42587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44641"/>
            <a:ext cx="9144000" cy="213359"/>
          </a:xfrm>
          <a:prstGeom prst="rect">
            <a:avLst/>
          </a:prstGeom>
        </p:spPr>
      </p:pic>
      <p:sp>
        <p:nvSpPr>
          <p:cNvPr id="3" name="投影片編號版面配置區 4"/>
          <p:cNvSpPr>
            <a:spLocks noGrp="1"/>
          </p:cNvSpPr>
          <p:nvPr userDrawn="1"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>
          <a:xfrm>
            <a:off x="518795" y="750570"/>
            <a:ext cx="8229600" cy="584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8229600" cy="4713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73DA0BB7-265A-403C-9275-D587AB510EDC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429000"/>
            <a:ext cx="6085280" cy="45720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4516390" y="2338338"/>
            <a:ext cx="1993900" cy="20612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TW" altLang="en-US" sz="3200" b="1">
                <a:solidFill>
                  <a:srgbClr val="0070C0"/>
                </a:solidFill>
                <a:effectLst>
                  <a:outerShdw blurRad="50800" dist="50800" dir="5400000" algn="ctr" rotWithShape="0">
                    <a:srgbClr val="000000">
                      <a:alpha val="37000"/>
                    </a:srgbClr>
                  </a:outerShdw>
                </a:effectLst>
                <a:latin typeface="Microsoft JhengHei UI" panose="020B0604030504040204" charset="-120"/>
                <a:ea typeface="Microsoft JhengHei UI" panose="020B0604030504040204" charset="-120"/>
                <a:cs typeface="Times New Roman" panose="02020603050405020304"/>
              </a:rPr>
              <a:t>熹樂</a:t>
            </a:r>
            <a:endParaRPr lang="zh-TW" altLang="en-US" sz="3200" b="1">
              <a:solidFill>
                <a:srgbClr val="0070C0"/>
              </a:solidFill>
              <a:effectLst>
                <a:outerShdw blurRad="50800" dist="50800" dir="5400000" algn="ctr" rotWithShape="0">
                  <a:srgbClr val="000000">
                    <a:alpha val="37000"/>
                  </a:srgbClr>
                </a:outerShdw>
              </a:effectLst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/>
            </a:endParaRPr>
          </a:p>
          <a:p>
            <a:pPr algn="ctr"/>
            <a:r>
              <a:rPr lang="zh-TW" altLang="en-US" sz="3200" b="1">
                <a:solidFill>
                  <a:srgbClr val="0070C0"/>
                </a:solidFill>
                <a:effectLst>
                  <a:outerShdw blurRad="50800" dist="50800" dir="5400000" algn="ctr" rotWithShape="0">
                    <a:srgbClr val="000000">
                      <a:alpha val="37000"/>
                    </a:srgbClr>
                  </a:outerShdw>
                </a:effectLst>
                <a:latin typeface="Microsoft JhengHei UI" panose="020B0604030504040204" charset="-120"/>
                <a:ea typeface="Microsoft JhengHei UI" panose="020B0604030504040204" charset="-120"/>
                <a:cs typeface="Times New Roman" panose="02020603050405020304"/>
              </a:rPr>
              <a:t>操作簡報</a:t>
            </a:r>
            <a:endParaRPr lang="zh-TW" altLang="en-US" sz="3200" b="1">
              <a:solidFill>
                <a:srgbClr val="0070C0"/>
              </a:solidFill>
              <a:effectLst>
                <a:outerShdw blurRad="50800" dist="50800" dir="5400000" algn="ctr" rotWithShape="0">
                  <a:srgbClr val="000000">
                    <a:alpha val="37000"/>
                  </a:srgbClr>
                </a:outerShdw>
              </a:effectLst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/>
            </a:endParaRPr>
          </a:p>
          <a:p>
            <a:pPr algn="ctr"/>
            <a:endParaRPr lang="zh-TW" altLang="en-US" sz="3200" b="1">
              <a:solidFill>
                <a:srgbClr val="0070C0"/>
              </a:solidFill>
              <a:effectLst>
                <a:outerShdw blurRad="50800" dist="50800" dir="5400000" algn="ctr" rotWithShape="0">
                  <a:srgbClr val="000000">
                    <a:alpha val="37000"/>
                  </a:srgbClr>
                </a:outerShdw>
              </a:effectLst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/>
            </a:endParaRPr>
          </a:p>
          <a:p>
            <a:pPr algn="ctr"/>
            <a:r>
              <a:rPr lang="en-US" altLang="zh-TW" sz="3200" b="1">
                <a:solidFill>
                  <a:srgbClr val="0070C0"/>
                </a:solidFill>
                <a:effectLst>
                  <a:outerShdw blurRad="50800" dist="50800" dir="5400000" algn="ctr" rotWithShape="0">
                    <a:srgbClr val="000000">
                      <a:alpha val="37000"/>
                    </a:srgbClr>
                  </a:outerShdw>
                </a:effectLst>
                <a:latin typeface="Microsoft JhengHei UI" panose="020B0604030504040204" charset="-120"/>
                <a:ea typeface="Microsoft JhengHei UI" panose="020B0604030504040204" charset="-120"/>
                <a:cs typeface="Times New Roman" panose="02020603050405020304"/>
              </a:rPr>
              <a:t>2020/8/6</a:t>
            </a:r>
            <a:endParaRPr lang="en-US" altLang="zh-TW" sz="3200" b="1">
              <a:solidFill>
                <a:srgbClr val="0070C0"/>
              </a:solidFill>
              <a:effectLst>
                <a:outerShdw blurRad="50800" dist="50800" dir="5400000" algn="ctr" rotWithShape="0">
                  <a:srgbClr val="000000">
                    <a:alpha val="37000"/>
                  </a:srgbClr>
                </a:outerShdw>
              </a:effectLst>
              <a:latin typeface="Microsoft JhengHei UI" panose="020B0604030504040204" charset="-120"/>
              <a:ea typeface="Microsoft JhengHei UI" panose="020B0604030504040204" charset="-120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字版面配置區 1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TW" altLang="en-US"/>
              <a:t>選單功能</a:t>
            </a:r>
            <a:endParaRPr lang="zh-TW" altLang="en-US"/>
          </a:p>
          <a:p>
            <a:r>
              <a:rPr lang="zh-TW" altLang="en-US"/>
              <a:t>資料表結構</a:t>
            </a:r>
            <a:endParaRPr lang="zh-TW" altLang="en-US"/>
          </a:p>
          <a:p>
            <a:r>
              <a:rPr lang="zh-TW" altLang="en-US"/>
              <a:t>基本操作</a:t>
            </a:r>
            <a:endParaRPr lang="zh-TW" altLang="en-US"/>
          </a:p>
          <a:p>
            <a:r>
              <a:rPr lang="zh-TW" altLang="en-US">
                <a:sym typeface="+mn-ea"/>
              </a:rPr>
              <a:t>訂單</a:t>
            </a:r>
            <a:endParaRPr lang="zh-TW" altLang="en-US">
              <a:sym typeface="+mn-ea"/>
            </a:endParaRPr>
          </a:p>
          <a:p>
            <a:pPr lvl="1"/>
            <a:r>
              <a:rPr lang="zh-TW" altLang="en-US">
                <a:sym typeface="+mn-ea"/>
              </a:rPr>
              <a:t>訂單結構</a:t>
            </a:r>
            <a:endParaRPr lang="zh-TW" altLang="en-US">
              <a:sym typeface="+mn-ea"/>
            </a:endParaRPr>
          </a:p>
          <a:p>
            <a:pPr lvl="1"/>
            <a:r>
              <a:rPr lang="zh-TW" altLang="en-US">
                <a:sym typeface="+mn-ea"/>
              </a:rPr>
              <a:t>用印區域</a:t>
            </a:r>
            <a:endParaRPr lang="zh-TW" altLang="en-US"/>
          </a:p>
          <a:p>
            <a:r>
              <a:rPr lang="zh-TW" altLang="en-US"/>
              <a:t>專案獎金設定</a:t>
            </a:r>
            <a:endParaRPr lang="zh-TW" altLang="en-US"/>
          </a:p>
          <a:p>
            <a:pPr lvl="1"/>
            <a:r>
              <a:rPr lang="zh-TW" altLang="en-US"/>
              <a:t>專案獎金試算</a:t>
            </a:r>
            <a:endParaRPr lang="zh-TW" altLang="en-US"/>
          </a:p>
          <a:p>
            <a:pPr lvl="1"/>
            <a:r>
              <a:rPr lang="zh-TW" altLang="en-US"/>
              <a:t>超級獎金試算</a:t>
            </a:r>
            <a:endParaRPr lang="zh-TW" altLang="en-US"/>
          </a:p>
          <a:p>
            <a:r>
              <a:rPr lang="zh-TW" altLang="en-US"/>
              <a:t>報表：組織分配表</a:t>
            </a:r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選單功能</a:t>
            </a:r>
            <a:endParaRPr lang="zh-TW" altLang="en-US"/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70" y="958850"/>
            <a:ext cx="9143365" cy="41967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667885" y="3172460"/>
            <a:ext cx="2376170" cy="1151890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TW" altLang="en-US"/>
              <a:t>尚未完成</a:t>
            </a:r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資料表結構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" y="721360"/>
            <a:ext cx="3051175" cy="48514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475" y="721360"/>
            <a:ext cx="4355465" cy="204978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475" y="2855595"/>
            <a:ext cx="4060190" cy="39801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TW" altLang="en-US"/>
              <a:t>基本操作</a:t>
            </a:r>
            <a:r>
              <a:rPr lang="en-US" altLang="zh-TW"/>
              <a:t>-</a:t>
            </a:r>
            <a:r>
              <a:rPr lang="zh-TW" altLang="en-US"/>
              <a:t>一般</a:t>
            </a:r>
            <a:r>
              <a:rPr lang="en-US" altLang="zh-TW">
                <a:sym typeface="+mn-ea"/>
              </a:rPr>
              <a:t>(</a:t>
            </a:r>
            <a:r>
              <a:rPr lang="zh-TW" altLang="en-US">
                <a:sym typeface="+mn-ea"/>
              </a:rPr>
              <a:t>系統畫面</a:t>
            </a:r>
            <a:r>
              <a:rPr lang="en-US" altLang="zh-TW">
                <a:sym typeface="+mn-ea"/>
              </a:rPr>
              <a:t>)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60" y="1616710"/>
            <a:ext cx="8692515" cy="28689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矩形 5"/>
          <p:cNvSpPr/>
          <p:nvPr/>
        </p:nvSpPr>
        <p:spPr>
          <a:xfrm>
            <a:off x="0" y="1264285"/>
            <a:ext cx="9144000" cy="936625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TW" altLang="en-US" b="1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選單</a:t>
            </a:r>
            <a:endParaRPr lang="zh-TW" altLang="en-US" b="1">
              <a:ln>
                <a:noFill/>
              </a:ln>
              <a:solidFill>
                <a:schemeClr val="tx1"/>
              </a:solidFill>
              <a:effectLst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1270" y="2211070"/>
            <a:ext cx="9144000" cy="476250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按鈕操作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5" y="2687320"/>
            <a:ext cx="9144000" cy="1798320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資料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訂單結構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0" y="791210"/>
            <a:ext cx="2779395" cy="5560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95" y="791210"/>
            <a:ext cx="4319270" cy="55606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695325" y="1264285"/>
            <a:ext cx="4143375" cy="936625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TW" altLang="en-US" b="1">
                <a:solidFill>
                  <a:schemeClr val="tx1"/>
                </a:solidFill>
              </a:rPr>
              <a:t>專案商品</a:t>
            </a:r>
            <a:endParaRPr lang="zh-TW" altLang="en-US" b="1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5325" y="2200910"/>
            <a:ext cx="4143375" cy="1603375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付款資訊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發票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供奉憑證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換狀證明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95325" y="3804285"/>
            <a:ext cx="4143375" cy="1194435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訂購者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5636260"/>
            <a:ext cx="4143375" cy="822960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用印區域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969000" y="991235"/>
            <a:ext cx="2779395" cy="1209040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專案商品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969000" y="2200910"/>
            <a:ext cx="2779395" cy="970915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訂購者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69000" y="3171825"/>
            <a:ext cx="2779395" cy="2464435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供奉憑證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換狀證明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付款資訊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發票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69000" y="5636260"/>
            <a:ext cx="2779395" cy="561975"/>
          </a:xfrm>
          <a:prstGeom prst="rect">
            <a:avLst/>
          </a:prstGeom>
          <a:solidFill>
            <a:srgbClr val="B6966E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/>
            <a:r>
              <a:rPr lang="zh-TW" altLang="en-US" b="1">
                <a:solidFill>
                  <a:schemeClr val="tx1"/>
                </a:solidFill>
                <a:sym typeface="+mn-ea"/>
              </a:rPr>
              <a:t>用印區域</a:t>
            </a:r>
            <a:endParaRPr lang="zh-TW" altLang="en-US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5" name="直線單箭頭接點 14"/>
          <p:cNvCxnSpPr>
            <a:stCxn id="7" idx="3"/>
            <a:endCxn id="11" idx="1"/>
          </p:cNvCxnSpPr>
          <p:nvPr/>
        </p:nvCxnSpPr>
        <p:spPr>
          <a:xfrm flipV="1">
            <a:off x="4838700" y="1595755"/>
            <a:ext cx="1130300" cy="13716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8" idx="3"/>
          </p:cNvCxnSpPr>
          <p:nvPr/>
        </p:nvCxnSpPr>
        <p:spPr>
          <a:xfrm>
            <a:off x="4838700" y="3002915"/>
            <a:ext cx="1130300" cy="135318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9" idx="3"/>
            <a:endCxn id="12" idx="1"/>
          </p:cNvCxnSpPr>
          <p:nvPr/>
        </p:nvCxnSpPr>
        <p:spPr>
          <a:xfrm flipV="1">
            <a:off x="4838700" y="2686685"/>
            <a:ext cx="1130300" cy="171513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0" idx="3"/>
            <a:endCxn id="14" idx="1"/>
          </p:cNvCxnSpPr>
          <p:nvPr/>
        </p:nvCxnSpPr>
        <p:spPr>
          <a:xfrm flipV="1">
            <a:off x="4838700" y="5917565"/>
            <a:ext cx="1130300" cy="1301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訂單用印區域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rcRect t="86219"/>
          <a:stretch>
            <a:fillRect/>
          </a:stretch>
        </p:blipFill>
        <p:spPr>
          <a:xfrm>
            <a:off x="518795" y="750570"/>
            <a:ext cx="7455535" cy="13227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矩形 5"/>
          <p:cNvSpPr/>
          <p:nvPr/>
        </p:nvSpPr>
        <p:spPr>
          <a:xfrm>
            <a:off x="2896870" y="2073275"/>
            <a:ext cx="936625" cy="50419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業務行政部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19220" y="2073275"/>
            <a:ext cx="936625" cy="50419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業務輔導部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2860675" y="2973070"/>
            <a:ext cx="1008380" cy="64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TW" altLang="en-US"/>
              <a:t>訂單</a:t>
            </a:r>
            <a:endParaRPr lang="zh-TW" altLang="en-US"/>
          </a:p>
          <a:p>
            <a:pPr algn="ctr"/>
            <a:r>
              <a:rPr lang="zh-TW" altLang="en-US"/>
              <a:t>建單人</a:t>
            </a:r>
            <a:endParaRPr lang="zh-TW" altLang="en-US"/>
          </a:p>
        </p:txBody>
      </p:sp>
      <p:cxnSp>
        <p:nvCxnSpPr>
          <p:cNvPr id="9" name="直線單箭頭接點 8"/>
          <p:cNvCxnSpPr>
            <a:stCxn id="6" idx="2"/>
            <a:endCxn id="8" idx="0"/>
          </p:cNvCxnSpPr>
          <p:nvPr/>
        </p:nvCxnSpPr>
        <p:spPr>
          <a:xfrm flipH="1">
            <a:off x="3364865" y="2577465"/>
            <a:ext cx="635" cy="395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圓角矩形 9"/>
          <p:cNvSpPr/>
          <p:nvPr/>
        </p:nvSpPr>
        <p:spPr>
          <a:xfrm>
            <a:off x="3919220" y="2973070"/>
            <a:ext cx="1008380" cy="6400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TW" altLang="en-US"/>
              <a:t>經銷商</a:t>
            </a:r>
            <a:endParaRPr lang="zh-TW" altLang="en-US"/>
          </a:p>
        </p:txBody>
      </p:sp>
      <p:cxnSp>
        <p:nvCxnSpPr>
          <p:cNvPr id="11" name="直線單箭頭接點 10"/>
          <p:cNvCxnSpPr>
            <a:stCxn id="7" idx="2"/>
            <a:endCxn id="10" idx="0"/>
          </p:cNvCxnSpPr>
          <p:nvPr/>
        </p:nvCxnSpPr>
        <p:spPr>
          <a:xfrm>
            <a:off x="4387850" y="2577465"/>
            <a:ext cx="35560" cy="395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/>
          <p:cNvSpPr/>
          <p:nvPr/>
        </p:nvSpPr>
        <p:spPr>
          <a:xfrm>
            <a:off x="3813175" y="3985895"/>
            <a:ext cx="1220470" cy="64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ym typeface="+mn-ea"/>
              </a:rPr>
              <a:t>熹樂</a:t>
            </a:r>
            <a:endParaRPr lang="zh-TW" altLang="en-US">
              <a:sym typeface="+mn-ea"/>
            </a:endParaRPr>
          </a:p>
          <a:p>
            <a:pPr lvl="0" algn="ctr"/>
            <a:r>
              <a:rPr lang="zh-TW" altLang="en-US">
                <a:sym typeface="+mn-ea"/>
              </a:rPr>
              <a:t>對應窗口</a:t>
            </a:r>
            <a:endParaRPr lang="zh-TW" altLang="en-US">
              <a:sym typeface="+mn-ea"/>
            </a:endParaRPr>
          </a:p>
        </p:txBody>
      </p:sp>
      <p:cxnSp>
        <p:nvCxnSpPr>
          <p:cNvPr id="13" name="直線單箭頭接點 12"/>
          <p:cNvCxnSpPr>
            <a:stCxn id="10" idx="2"/>
            <a:endCxn id="12" idx="0"/>
          </p:cNvCxnSpPr>
          <p:nvPr/>
        </p:nvCxnSpPr>
        <p:spPr>
          <a:xfrm>
            <a:off x="4423410" y="3613150"/>
            <a:ext cx="0" cy="3727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927600" y="2073275"/>
            <a:ext cx="936625" cy="50419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經銷商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911850" y="2073275"/>
            <a:ext cx="936625" cy="50419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業務代表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16" name="圓角矩形 15"/>
          <p:cNvSpPr/>
          <p:nvPr/>
        </p:nvSpPr>
        <p:spPr>
          <a:xfrm>
            <a:off x="5840095" y="2973070"/>
            <a:ext cx="1008380" cy="64008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TW" altLang="en-US"/>
              <a:t>客戶</a:t>
            </a:r>
            <a:endParaRPr lang="zh-TW" altLang="en-US"/>
          </a:p>
        </p:txBody>
      </p:sp>
      <p:sp>
        <p:nvSpPr>
          <p:cNvPr id="17" name="圓角矩形 16"/>
          <p:cNvSpPr/>
          <p:nvPr/>
        </p:nvSpPr>
        <p:spPr>
          <a:xfrm>
            <a:off x="5738495" y="3985895"/>
            <a:ext cx="1233170" cy="64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ym typeface="+mn-ea"/>
              </a:rPr>
              <a:t>對應</a:t>
            </a:r>
            <a:br>
              <a:rPr lang="zh-TW" altLang="en-US">
                <a:sym typeface="+mn-ea"/>
              </a:rPr>
            </a:br>
            <a:r>
              <a:rPr lang="zh-TW" altLang="en-US">
                <a:sym typeface="+mn-ea"/>
              </a:rPr>
              <a:t>業務代表</a:t>
            </a:r>
            <a:endParaRPr lang="zh-TW" altLang="en-US">
              <a:sym typeface="+mn-ea"/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4798695" y="4957445"/>
            <a:ext cx="1233170" cy="6400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ym typeface="+mn-ea"/>
              </a:rPr>
              <a:t>所屬</a:t>
            </a:r>
            <a:endParaRPr lang="zh-TW" altLang="en-US">
              <a:sym typeface="+mn-ea"/>
            </a:endParaRPr>
          </a:p>
          <a:p>
            <a:pPr lvl="0" algn="ctr"/>
            <a:r>
              <a:rPr lang="zh-TW" altLang="en-US">
                <a:sym typeface="+mn-ea"/>
              </a:rPr>
              <a:t>經銷商</a:t>
            </a:r>
            <a:endParaRPr lang="zh-TW" altLang="en-US">
              <a:sym typeface="+mn-ea"/>
            </a:endParaRPr>
          </a:p>
        </p:txBody>
      </p:sp>
      <p:cxnSp>
        <p:nvCxnSpPr>
          <p:cNvPr id="19" name="直線單箭頭接點 18"/>
          <p:cNvCxnSpPr>
            <a:stCxn id="15" idx="2"/>
            <a:endCxn id="16" idx="0"/>
          </p:cNvCxnSpPr>
          <p:nvPr/>
        </p:nvCxnSpPr>
        <p:spPr>
          <a:xfrm flipH="1">
            <a:off x="6344285" y="2577465"/>
            <a:ext cx="36195" cy="395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6" idx="2"/>
            <a:endCxn id="17" idx="0"/>
          </p:cNvCxnSpPr>
          <p:nvPr/>
        </p:nvCxnSpPr>
        <p:spPr>
          <a:xfrm>
            <a:off x="6344285" y="3613150"/>
            <a:ext cx="10795" cy="3727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7" idx="2"/>
            <a:endCxn id="18" idx="0"/>
          </p:cNvCxnSpPr>
          <p:nvPr/>
        </p:nvCxnSpPr>
        <p:spPr>
          <a:xfrm flipH="1">
            <a:off x="5415280" y="4625975"/>
            <a:ext cx="939800" cy="3314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4" idx="2"/>
            <a:endCxn id="18" idx="0"/>
          </p:cNvCxnSpPr>
          <p:nvPr/>
        </p:nvCxnSpPr>
        <p:spPr>
          <a:xfrm>
            <a:off x="5396230" y="2577465"/>
            <a:ext cx="19050" cy="23799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專案獎金設定</a:t>
            </a:r>
            <a:r>
              <a:rPr lang="en-US" altLang="zh-TW"/>
              <a:t>(</a:t>
            </a:r>
            <a:r>
              <a:rPr lang="zh-TW" altLang="en-US"/>
              <a:t>系統畫面</a:t>
            </a:r>
            <a:r>
              <a:rPr lang="en-US" altLang="zh-TW"/>
              <a:t>)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894715"/>
            <a:ext cx="3755390" cy="1838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rcRect l="9249" t="18589" r="22455"/>
          <a:stretch>
            <a:fillRect/>
          </a:stretch>
        </p:blipFill>
        <p:spPr>
          <a:xfrm>
            <a:off x="-6985" y="3549015"/>
            <a:ext cx="3166745" cy="14389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rcRect l="11363" t="19660" r="33767"/>
          <a:stretch>
            <a:fillRect/>
          </a:stretch>
        </p:blipFill>
        <p:spPr>
          <a:xfrm>
            <a:off x="3307715" y="3549015"/>
            <a:ext cx="2628265" cy="1720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770" y="3549015"/>
            <a:ext cx="2945130" cy="17183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矩形 8"/>
          <p:cNvSpPr/>
          <p:nvPr/>
        </p:nvSpPr>
        <p:spPr>
          <a:xfrm>
            <a:off x="1108075" y="3197225"/>
            <a:ext cx="936625" cy="35179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商品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66845" y="3197225"/>
            <a:ext cx="1210310" cy="35179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業務獎金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62470" y="3197225"/>
            <a:ext cx="1141730" cy="351155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超級獎金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cxnSp>
        <p:nvCxnSpPr>
          <p:cNvPr id="11" name="肘形接點 10"/>
          <p:cNvCxnSpPr>
            <a:stCxn id="5" idx="2"/>
            <a:endCxn id="9" idx="0"/>
          </p:cNvCxnSpPr>
          <p:nvPr/>
        </p:nvCxnSpPr>
        <p:spPr>
          <a:xfrm rot="5400000">
            <a:off x="1754505" y="2555240"/>
            <a:ext cx="464185" cy="819785"/>
          </a:xfrm>
          <a:prstGeom prst="bentConnector3">
            <a:avLst>
              <a:gd name="adj1" fmla="val 500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肘形接點 11"/>
          <p:cNvCxnSpPr>
            <a:stCxn id="5" idx="2"/>
            <a:endCxn id="10" idx="0"/>
          </p:cNvCxnSpPr>
          <p:nvPr/>
        </p:nvCxnSpPr>
        <p:spPr>
          <a:xfrm rot="5400000" flipV="1">
            <a:off x="3252153" y="1877378"/>
            <a:ext cx="464185" cy="21755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接點 12"/>
          <p:cNvCxnSpPr>
            <a:stCxn id="5" idx="2"/>
            <a:endCxn id="14" idx="0"/>
          </p:cNvCxnSpPr>
          <p:nvPr/>
        </p:nvCxnSpPr>
        <p:spPr>
          <a:xfrm rot="5400000" flipV="1">
            <a:off x="4782820" y="346710"/>
            <a:ext cx="464185" cy="5236845"/>
          </a:xfrm>
          <a:prstGeom prst="bentConnector3">
            <a:avLst>
              <a:gd name="adj1" fmla="val 5006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專案獎金試算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>
                <a:latin typeface="微軟正黑體" panose="020B0604030504040204" pitchFamily="34" charset="-120"/>
              </a:rPr>
            </a:fld>
            <a:endParaRPr lang="zh-TW" altLang="en-US" dirty="0" smtClean="0">
              <a:latin typeface="微軟正黑體" panose="020B0604030504040204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8795" y="953770"/>
            <a:ext cx="3119755" cy="36000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en-US" altLang="zh-TW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4~6</a:t>
            </a:r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月份訂單收款紀錄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  <a:sym typeface="+mn-ea"/>
            </a:endParaRPr>
          </a:p>
        </p:txBody>
      </p:sp>
      <p:graphicFrame>
        <p:nvGraphicFramePr>
          <p:cNvPr id="8" name="圓桌 7"/>
          <p:cNvGraphicFramePr/>
          <p:nvPr/>
        </p:nvGraphicFramePr>
        <p:xfrm>
          <a:off x="518795" y="1320165"/>
          <a:ext cx="311975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235"/>
                <a:gridCol w="699770"/>
                <a:gridCol w="629920"/>
                <a:gridCol w="117983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業務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職等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銷售總額</a:t>
                      </a: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經理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幸福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400</a:t>
                      </a: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萬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經理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永福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30</a:t>
                      </a: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萬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518795" y="2829560"/>
            <a:ext cx="2650490" cy="36000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專案業務獎金設定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graphicFrame>
        <p:nvGraphicFramePr>
          <p:cNvPr id="11" name="圓桌 10"/>
          <p:cNvGraphicFramePr/>
          <p:nvPr/>
        </p:nvGraphicFramePr>
        <p:xfrm>
          <a:off x="518160" y="3189605"/>
          <a:ext cx="265112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/>
                <a:gridCol w="565785"/>
                <a:gridCol w="15201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職等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獎金比例</a:t>
                      </a: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(%)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幸福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經理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25</a:t>
                      </a:r>
                      <a:endParaRPr 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永福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經理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15</a:t>
                      </a:r>
                      <a:endParaRPr lang="en-US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519430" y="4718050"/>
            <a:ext cx="2650490" cy="36000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業務獎金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graphicFrame>
        <p:nvGraphicFramePr>
          <p:cNvPr id="13" name="圓桌 12"/>
          <p:cNvGraphicFramePr/>
          <p:nvPr/>
        </p:nvGraphicFramePr>
        <p:xfrm>
          <a:off x="519430" y="5078095"/>
          <a:ext cx="265049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/>
                <a:gridCol w="564515"/>
                <a:gridCol w="152082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業務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獎金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幸福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100</a:t>
                      </a: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萬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永福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4.5</a:t>
                      </a: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萬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加號 13"/>
          <p:cNvSpPr/>
          <p:nvPr/>
        </p:nvSpPr>
        <p:spPr>
          <a:xfrm>
            <a:off x="1618615" y="2421255"/>
            <a:ext cx="432435" cy="432435"/>
          </a:xfrm>
          <a:prstGeom prst="mathPlus">
            <a:avLst/>
          </a:prstGeom>
          <a:solidFill>
            <a:srgbClr val="BC5908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TW" altLang="en-US"/>
          </a:p>
        </p:txBody>
      </p:sp>
      <p:sp>
        <p:nvSpPr>
          <p:cNvPr id="15" name="等號 14"/>
          <p:cNvSpPr/>
          <p:nvPr/>
        </p:nvSpPr>
        <p:spPr>
          <a:xfrm>
            <a:off x="1619885" y="4365625"/>
            <a:ext cx="431800" cy="288290"/>
          </a:xfrm>
          <a:prstGeom prst="mathEqual">
            <a:avLst/>
          </a:prstGeom>
          <a:solidFill>
            <a:srgbClr val="BC5908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endParaRPr lang="zh-TW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232910" y="2829560"/>
            <a:ext cx="2650490" cy="36000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專案超級獎金設定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graphicFrame>
        <p:nvGraphicFramePr>
          <p:cNvPr id="17" name="圓桌 16"/>
          <p:cNvGraphicFramePr/>
          <p:nvPr/>
        </p:nvGraphicFramePr>
        <p:xfrm>
          <a:off x="4232275" y="3189605"/>
          <a:ext cx="265112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/>
                <a:gridCol w="1123950"/>
                <a:gridCol w="96202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最低營業額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獎金比例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幸福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300</a:t>
                      </a: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1%</a:t>
                      </a:r>
                      <a:endParaRPr 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永福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300</a:t>
                      </a: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1%</a:t>
                      </a:r>
                      <a:endParaRPr lang="en-US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加號 17"/>
          <p:cNvSpPr/>
          <p:nvPr/>
        </p:nvSpPr>
        <p:spPr>
          <a:xfrm>
            <a:off x="5343525" y="2421255"/>
            <a:ext cx="432435" cy="432435"/>
          </a:xfrm>
          <a:prstGeom prst="mathPlus">
            <a:avLst/>
          </a:prstGeom>
          <a:solidFill>
            <a:srgbClr val="BC5908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TW" altLang="en-US"/>
          </a:p>
        </p:txBody>
      </p:sp>
      <p:sp>
        <p:nvSpPr>
          <p:cNvPr id="19" name="等號 18"/>
          <p:cNvSpPr/>
          <p:nvPr/>
        </p:nvSpPr>
        <p:spPr>
          <a:xfrm>
            <a:off x="5344160" y="4365625"/>
            <a:ext cx="431800" cy="288290"/>
          </a:xfrm>
          <a:prstGeom prst="mathEqual">
            <a:avLst/>
          </a:prstGeom>
          <a:solidFill>
            <a:srgbClr val="BC5908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endParaRPr lang="zh-TW" altLang="en-US"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232275" y="4718050"/>
            <a:ext cx="2650490" cy="360000"/>
          </a:xfrm>
          <a:prstGeom prst="rect">
            <a:avLst/>
          </a:prstGeom>
          <a:solidFill>
            <a:srgbClr val="B6966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/>
            <a:r>
              <a:rPr lang="zh-TW" altLang="en-US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超級獎金</a:t>
            </a:r>
            <a:endParaRPr lang="zh-TW" altLang="en-US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+mn-ea"/>
            </a:endParaRPr>
          </a:p>
        </p:txBody>
      </p:sp>
      <p:graphicFrame>
        <p:nvGraphicFramePr>
          <p:cNvPr id="21" name="圓桌 20"/>
          <p:cNvGraphicFramePr/>
          <p:nvPr/>
        </p:nvGraphicFramePr>
        <p:xfrm>
          <a:off x="4232275" y="5078095"/>
          <a:ext cx="265049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/>
                <a:gridCol w="564515"/>
                <a:gridCol w="152082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業務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獎金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幸福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4</a:t>
                      </a: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萬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永福</a:t>
                      </a:r>
                      <a:endParaRPr lang="zh-TW" altLang="en-US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 (</a:t>
                      </a:r>
                      <a:r>
                        <a:rPr lang="zh-TW" altLang="en-US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未達門檻</a:t>
                      </a:r>
                      <a:r>
                        <a:rPr lang="en-US" altLang="zh-TW" sz="140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)</a:t>
                      </a:r>
                      <a:endParaRPr lang="en-US" altLang="zh-TW" sz="140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超級獎金試算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graphicFrame>
        <p:nvGraphicFramePr>
          <p:cNvPr id="5" name="圓桌 4"/>
          <p:cNvGraphicFramePr/>
          <p:nvPr/>
        </p:nvGraphicFramePr>
        <p:xfrm>
          <a:off x="518160" y="748665"/>
          <a:ext cx="8232140" cy="567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020"/>
                <a:gridCol w="1176020"/>
                <a:gridCol w="1176020"/>
                <a:gridCol w="1176020"/>
                <a:gridCol w="1176020"/>
                <a:gridCol w="1176020"/>
                <a:gridCol w="1176020"/>
              </a:tblGrid>
              <a:tr h="378460">
                <a:tc rowSpan="2" gridSpan="3">
                  <a:txBody>
                    <a:bodyPr/>
                    <a:p>
                      <a:pPr algn="ctr">
                        <a:buNone/>
                      </a:pPr>
                      <a:r>
                        <a:rPr lang="zh-TW" altLang="en-US"/>
                        <a:t>組織</a:t>
                      </a:r>
                      <a:endParaRPr lang="zh-TW" altLang="en-US"/>
                    </a:p>
                  </a:txBody>
                  <a:tcPr anchor="ctr" anchorCtr="0"/>
                </a:tc>
                <a:tc rowSpan="2" hMerge="1">
                  <a:tcPr/>
                </a:tc>
                <a:tc rowSpan="2" hMerge="1"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TW" altLang="en-US"/>
                        <a:t>業績額</a:t>
                      </a:r>
                      <a:endParaRPr lang="zh-TW" altLang="en-US"/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TW" altLang="en-US"/>
                        <a:t>超級獎金</a:t>
                      </a:r>
                      <a:endParaRPr lang="zh-TW" altLang="en-US"/>
                    </a:p>
                  </a:txBody>
                  <a:tcPr/>
                </a:tc>
                <a:tc hMerge="1">
                  <a:tcPr/>
                </a:tc>
              </a:tr>
              <a:tr h="378460">
                <a:tc vMerge="1" gridSpan="3">
                  <a:tcPr/>
                </a:tc>
                <a:tc vMerge="1" hMerge="1">
                  <a:tcPr/>
                </a:tc>
                <a:tc vMerge="1"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/>
                        <a:t>營業額</a:t>
                      </a:r>
                      <a:r>
                        <a:rPr lang="en-US" altLang="zh-TW"/>
                        <a:t>(</a:t>
                      </a:r>
                      <a:r>
                        <a:rPr lang="zh-TW" altLang="en-US"/>
                        <a:t>萬</a:t>
                      </a:r>
                      <a:r>
                        <a:rPr lang="en-US" altLang="zh-TW"/>
                        <a:t>)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/>
                        <a:t>佣比</a:t>
                      </a:r>
                      <a:r>
                        <a:rPr lang="en-US" altLang="zh-TW"/>
                        <a:t>(%)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/>
                        <a:t>組織總發</a:t>
                      </a: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TW" altLang="en-US"/>
                        <a:t>個人實領</a:t>
                      </a:r>
                      <a:endParaRPr lang="zh-TW" altLang="en-US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A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4,500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7.5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337.5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147.5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B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1,000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3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30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22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B1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200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zh-TW" altLang="en-US"/>
                        <a:t>未達標</a:t>
                      </a:r>
                      <a:endParaRPr lang="zh-TW" altLang="en-US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B2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300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1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3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B3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500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1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5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C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1,500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4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60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37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C1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300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1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3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C2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400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1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4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C3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800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2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16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D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2,000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5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100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56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D1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300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1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3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D2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500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1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5</a:t>
                      </a:r>
                      <a:endParaRPr lang="en-US" altLang="zh-TW"/>
                    </a:p>
                  </a:txBody>
                  <a:tcPr/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D3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1,200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TW"/>
                        <a:t>3</a:t>
                      </a:r>
                      <a:endParaRPr lang="en-US" altLang="zh-TW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altLang="zh-TW"/>
                        <a:t>36</a:t>
                      </a:r>
                      <a:endParaRPr lang="en-US" altLang="zh-TW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2" name="群組 11"/>
          <p:cNvGrpSpPr/>
          <p:nvPr/>
        </p:nvGrpSpPr>
        <p:grpSpPr>
          <a:xfrm>
            <a:off x="4046855" y="1894205"/>
            <a:ext cx="4693285" cy="3380105"/>
            <a:chOff x="6373" y="2983"/>
            <a:chExt cx="7391" cy="5323"/>
          </a:xfrm>
        </p:grpSpPr>
        <p:sp>
          <p:nvSpPr>
            <p:cNvPr id="7" name="矩形 6"/>
            <p:cNvSpPr/>
            <p:nvPr/>
          </p:nvSpPr>
          <p:spPr>
            <a:xfrm>
              <a:off x="6394" y="5367"/>
              <a:ext cx="7371" cy="559"/>
            </a:xfrm>
            <a:prstGeom prst="rect">
              <a:avLst/>
            </a:prstGeom>
            <a:solidFill>
              <a:srgbClr val="E9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6373" y="7748"/>
              <a:ext cx="7371" cy="559"/>
            </a:xfrm>
            <a:prstGeom prst="rect">
              <a:avLst/>
            </a:prstGeom>
            <a:solidFill>
              <a:srgbClr val="E9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6385" y="2983"/>
              <a:ext cx="7371" cy="559"/>
            </a:xfrm>
            <a:prstGeom prst="rect">
              <a:avLst/>
            </a:prstGeom>
            <a:solidFill>
              <a:srgbClr val="E9ED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4054475" y="1516380"/>
            <a:ext cx="4680585" cy="354965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TW" altLang="en-US"/>
              <a:t>報表：組織分配表</a:t>
            </a:r>
            <a:r>
              <a:rPr lang="en-US" altLang="zh-TW">
                <a:sym typeface="+mn-ea"/>
              </a:rPr>
              <a:t>(</a:t>
            </a:r>
            <a:r>
              <a:rPr lang="zh-TW" altLang="en-US">
                <a:sym typeface="+mn-ea"/>
              </a:rPr>
              <a:t>系統畫面</a:t>
            </a:r>
            <a:r>
              <a:rPr lang="en-US" altLang="zh-TW">
                <a:sym typeface="+mn-ea"/>
              </a:rPr>
              <a:t>)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750570"/>
            <a:ext cx="9017000" cy="43834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4294967295"/>
          </p:nvPr>
        </p:nvSpPr>
        <p:spPr>
          <a:xfrm>
            <a:off x="7010400" y="284163"/>
            <a:ext cx="2133600" cy="365125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</a:fld>
            <a:endParaRPr lang="zh-TW" altLang="en-US" dirty="0"/>
          </a:p>
        </p:txBody>
      </p:sp>
      <p:pic>
        <p:nvPicPr>
          <p:cNvPr id="2050" name="Picture 2" descr="https://timesharepresentationdeals.com/wp-content/uploads/2016/01/ThankYouScriptPNG150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2924944"/>
            <a:ext cx="2016224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WPS Presentation</Application>
  <PresentationFormat>如螢幕大小 (4:3)</PresentationFormat>
  <Paragraphs>355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新細明體</vt:lpstr>
      <vt:lpstr>Wingdings</vt:lpstr>
      <vt:lpstr>微軟正黑體</vt:lpstr>
      <vt:lpstr>Times New Roman</vt:lpstr>
      <vt:lpstr>Microsoft JhengHei UI</vt:lpstr>
      <vt:lpstr>Times New Roman</vt:lpstr>
      <vt:lpstr>Microsoft YaHei</vt:lpstr>
      <vt:lpstr>SimSun</vt:lpstr>
      <vt:lpstr>Arial Unicode MS</vt:lpstr>
      <vt:lpstr>Calibri</vt:lpstr>
      <vt:lpstr>新細明體</vt:lpstr>
      <vt:lpstr>Office 佈景主題</vt:lpstr>
      <vt:lpstr>PowerPoint 演示文稿</vt:lpstr>
      <vt:lpstr>PowerPoint 演示文稿</vt:lpstr>
      <vt:lpstr>選單功能</vt:lpstr>
      <vt:lpstr>資料表結構</vt:lpstr>
      <vt:lpstr>基本操作-一般(系統畫面)</vt:lpstr>
      <vt:lpstr>訂單結構</vt:lpstr>
      <vt:lpstr>訂單用印區域</vt:lpstr>
      <vt:lpstr>專案獎金設定(系統畫面)</vt:lpstr>
      <vt:lpstr>專案獎金試算</vt:lpstr>
      <vt:lpstr>超級獎金試算</vt:lpstr>
      <vt:lpstr>報表：組織分配表(系統畫面)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Thomas Lo</dc:creator>
  <cp:lastModifiedBy>A191101</cp:lastModifiedBy>
  <cp:revision>767</cp:revision>
  <cp:lastPrinted>2017-06-07T08:55:00Z</cp:lastPrinted>
  <dcterms:created xsi:type="dcterms:W3CDTF">2015-10-29T07:23:00Z</dcterms:created>
  <dcterms:modified xsi:type="dcterms:W3CDTF">2020-08-13T01:17:22Z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1028-10.8.2.6633</vt:lpwstr>
  </property>
</Properties>
</file>