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353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04" r:id="rId13"/>
  </p:sldIdLst>
  <p:sldSz cx="9144000" cy="6858000" type="screen4x3"/>
  <p:notesSz cx="9926320" cy="67976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04B"/>
    <a:srgbClr val="545C64"/>
    <a:srgbClr val="F5F7FA"/>
    <a:srgbClr val="B6966E"/>
    <a:srgbClr val="F56C6C"/>
    <a:srgbClr val="0000FF"/>
    <a:srgbClr val="909399"/>
    <a:srgbClr val="DCDFE6"/>
    <a:srgbClr val="409EFF"/>
    <a:srgbClr val="982F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70" autoAdjust="0"/>
  </p:normalViewPr>
  <p:slideViewPr>
    <p:cSldViewPr>
      <p:cViewPr varScale="1">
        <p:scale>
          <a:sx n="61" d="100"/>
          <a:sy n="61" d="100"/>
        </p:scale>
        <p:origin x="832" y="48"/>
      </p:cViewPr>
      <p:guideLst>
        <p:guide orient="horz" pos="2137"/>
        <p:guide pos="2845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-5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4" y="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22802" y="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5EC5D-827F-446D-A19C-5C40320BB13D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4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22802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A3264-24E1-4E84-BCB3-20F396AB8475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4" y="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622802" y="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7D435-EB05-4CBF-BF98-48E0CB6EBB51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50900"/>
            <a:ext cx="3055938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4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622802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69B54-B4BA-49F0-89A5-734453610505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6021288"/>
            <a:ext cx="3276600" cy="683450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>
          <a:xfrm>
            <a:off x="519430" y="179070"/>
            <a:ext cx="8229600" cy="584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algn="ctr"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algn="ctr"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algn="ctr"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algn="ctr"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18864" y="44624"/>
            <a:ext cx="8229600" cy="706090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972520" y="284292"/>
            <a:ext cx="2133600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5956"/>
            <a:ext cx="9144000" cy="42587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44641"/>
            <a:ext cx="9144000" cy="213359"/>
          </a:xfrm>
          <a:prstGeom prst="rect">
            <a:avLst/>
          </a:prstGeom>
        </p:spPr>
      </p:pic>
      <p:sp>
        <p:nvSpPr>
          <p:cNvPr id="3" name="投影片編號版面配置區 4"/>
          <p:cNvSpPr>
            <a:spLocks noGrp="1"/>
          </p:cNvSpPr>
          <p:nvPr userDrawn="1"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>
          <a:xfrm>
            <a:off x="518795" y="750570"/>
            <a:ext cx="8229600" cy="584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412776"/>
            <a:ext cx="8229600" cy="4713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429000"/>
            <a:ext cx="6085280" cy="45720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4202700" y="2338338"/>
            <a:ext cx="2621280" cy="2061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TW" altLang="en-US" sz="3200" b="1">
                <a:solidFill>
                  <a:srgbClr val="0070C0"/>
                </a:solidFill>
                <a:effectLst>
                  <a:outerShdw blurRad="50800" dist="50800" dir="5400000" algn="ctr" rotWithShape="0">
                    <a:srgbClr val="000000">
                      <a:alpha val="37000"/>
                    </a:srgbClr>
                  </a:outerShdw>
                </a:effectLst>
                <a:latin typeface="Microsoft JhengHei UI" panose="020B0604030504040204" charset="-120"/>
                <a:ea typeface="Microsoft JhengHei UI" panose="020B0604030504040204" charset="-120"/>
                <a:cs typeface="Times New Roman" panose="02020603050405020304"/>
              </a:rPr>
              <a:t>熹樂</a:t>
            </a:r>
            <a:endParaRPr lang="zh-TW" altLang="en-US" sz="3200" b="1">
              <a:solidFill>
                <a:srgbClr val="0070C0"/>
              </a:solidFill>
              <a:effectLst>
                <a:outerShdw blurRad="50800" dist="50800" dir="5400000" algn="ctr" rotWithShape="0">
                  <a:srgbClr val="000000">
                    <a:alpha val="37000"/>
                  </a:srgbClr>
                </a:outerShdw>
              </a:effectLst>
              <a:latin typeface="Microsoft JhengHei UI" panose="020B0604030504040204" charset="-120"/>
              <a:ea typeface="Microsoft JhengHei UI" panose="020B0604030504040204" charset="-120"/>
              <a:cs typeface="Times New Roman" panose="02020603050405020304"/>
            </a:endParaRPr>
          </a:p>
          <a:p>
            <a:pPr algn="ctr"/>
            <a:r>
              <a:rPr lang="zh-TW" altLang="en-US" sz="3200" b="1">
                <a:solidFill>
                  <a:srgbClr val="0070C0"/>
                </a:solidFill>
                <a:effectLst>
                  <a:outerShdw blurRad="50800" dist="50800" dir="5400000" algn="ctr" rotWithShape="0">
                    <a:srgbClr val="000000">
                      <a:alpha val="37000"/>
                    </a:srgbClr>
                  </a:outerShdw>
                </a:effectLst>
                <a:latin typeface="Microsoft JhengHei UI" panose="020B0604030504040204" charset="-120"/>
                <a:ea typeface="Microsoft JhengHei UI" panose="020B0604030504040204" charset="-120"/>
                <a:cs typeface="Times New Roman" panose="02020603050405020304"/>
              </a:rPr>
              <a:t>介面設計規範</a:t>
            </a:r>
            <a:endParaRPr lang="zh-TW" altLang="en-US" sz="3200" b="1">
              <a:solidFill>
                <a:srgbClr val="0070C0"/>
              </a:solidFill>
              <a:effectLst>
                <a:outerShdw blurRad="50800" dist="50800" dir="5400000" algn="ctr" rotWithShape="0">
                  <a:srgbClr val="000000">
                    <a:alpha val="37000"/>
                  </a:srgbClr>
                </a:outerShdw>
              </a:effectLst>
              <a:latin typeface="Microsoft JhengHei UI" panose="020B0604030504040204" charset="-120"/>
              <a:ea typeface="Microsoft JhengHei UI" panose="020B0604030504040204" charset="-120"/>
              <a:cs typeface="Times New Roman" panose="02020603050405020304"/>
            </a:endParaRPr>
          </a:p>
          <a:p>
            <a:pPr algn="ctr"/>
            <a:endParaRPr lang="zh-TW" altLang="en-US" sz="3200" b="1">
              <a:solidFill>
                <a:srgbClr val="0070C0"/>
              </a:solidFill>
              <a:effectLst>
                <a:outerShdw blurRad="50800" dist="50800" dir="5400000" algn="ctr" rotWithShape="0">
                  <a:srgbClr val="000000">
                    <a:alpha val="37000"/>
                  </a:srgbClr>
                </a:outerShdw>
              </a:effectLst>
              <a:latin typeface="Microsoft JhengHei UI" panose="020B0604030504040204" charset="-120"/>
              <a:ea typeface="Microsoft JhengHei UI" panose="020B0604030504040204" charset="-120"/>
              <a:cs typeface="Times New Roman" panose="02020603050405020304"/>
            </a:endParaRPr>
          </a:p>
          <a:p>
            <a:pPr algn="ctr"/>
            <a:r>
              <a:rPr lang="en-US" altLang="zh-TW" sz="3200" b="1">
                <a:solidFill>
                  <a:srgbClr val="0070C0"/>
                </a:solidFill>
                <a:effectLst>
                  <a:outerShdw blurRad="50800" dist="50800" dir="5400000" algn="ctr" rotWithShape="0">
                    <a:srgbClr val="000000">
                      <a:alpha val="37000"/>
                    </a:srgbClr>
                  </a:outerShdw>
                </a:effectLst>
                <a:latin typeface="Microsoft JhengHei UI" panose="020B0604030504040204" charset="-120"/>
                <a:ea typeface="Microsoft JhengHei UI" panose="020B0604030504040204" charset="-120"/>
                <a:cs typeface="Times New Roman" panose="02020603050405020304"/>
              </a:rPr>
              <a:t>2020/6/15</a:t>
            </a:r>
            <a:endParaRPr lang="en-US" altLang="zh-TW" sz="3200" b="1">
              <a:solidFill>
                <a:srgbClr val="0070C0"/>
              </a:solidFill>
              <a:effectLst>
                <a:outerShdw blurRad="50800" dist="50800" dir="5400000" algn="ctr" rotWithShape="0">
                  <a:srgbClr val="000000">
                    <a:alpha val="37000"/>
                  </a:srgbClr>
                </a:outerShdw>
              </a:effectLst>
              <a:latin typeface="Microsoft JhengHei UI" panose="020B0604030504040204" charset="-120"/>
              <a:ea typeface="Microsoft JhengHei UI" panose="020B0604030504040204" charset="-120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TW" altLang="en-US"/>
              <a:t>文字</a:t>
            </a:r>
            <a:endParaRPr lang="zh-TW" altLang="en-US"/>
          </a:p>
          <a:p>
            <a:r>
              <a:rPr lang="zh-TW" altLang="en-US"/>
              <a:t>顏色</a:t>
            </a:r>
            <a:endParaRPr lang="zh-TW" altLang="en-US"/>
          </a:p>
          <a:p>
            <a:r>
              <a:rPr lang="zh-TW" altLang="en-US"/>
              <a:t>按鈕</a:t>
            </a:r>
            <a:endParaRPr lang="zh-TW" altLang="en-US"/>
          </a:p>
          <a:p>
            <a:r>
              <a:rPr lang="zh-TW" altLang="en-US"/>
              <a:t>導航</a:t>
            </a:r>
            <a:endParaRPr lang="zh-TW" altLang="en-US"/>
          </a:p>
          <a:p>
            <a:r>
              <a:rPr lang="zh-TW" altLang="en-US"/>
              <a:t>表單</a:t>
            </a:r>
            <a:endParaRPr lang="zh-TW" altLang="en-US"/>
          </a:p>
          <a:p>
            <a:r>
              <a:rPr lang="zh-TW" altLang="en-US"/>
              <a:t>月曆</a:t>
            </a:r>
            <a:endParaRPr lang="zh-TW" altLang="en-US"/>
          </a:p>
          <a:p>
            <a:r>
              <a:rPr lang="zh-TW" altLang="en-US"/>
              <a:t>表格</a:t>
            </a:r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文字 Typography</a:t>
            </a:r>
            <a:endParaRPr lang="zh-TW" altLang="en-US"/>
          </a:p>
        </p:txBody>
      </p:sp>
      <p:graphicFrame>
        <p:nvGraphicFramePr>
          <p:cNvPr id="4" name="圓桌 3"/>
          <p:cNvGraphicFramePr/>
          <p:nvPr/>
        </p:nvGraphicFramePr>
        <p:xfrm>
          <a:off x="516890" y="862330"/>
          <a:ext cx="8001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164"/>
                <a:gridCol w="784172"/>
                <a:gridCol w="784172"/>
                <a:gridCol w="784171"/>
                <a:gridCol w="749966"/>
                <a:gridCol w="329035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>
                          <a:latin typeface="標楷體" panose="03000509000000000000" charset="-120"/>
                          <a:ea typeface="標楷體" panose="03000509000000000000" charset="-120"/>
                        </a:rPr>
                        <a:t>項目</a:t>
                      </a:r>
                      <a:endParaRPr lang="zh-TW" altLang="en-US">
                        <a:latin typeface="標楷體" panose="03000509000000000000" charset="-120"/>
                        <a:ea typeface="標楷體" panose="03000509000000000000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>
                          <a:latin typeface="標楷體" panose="03000509000000000000" charset="-120"/>
                          <a:ea typeface="標楷體" panose="03000509000000000000" charset="-120"/>
                        </a:rPr>
                        <a:t>粗細</a:t>
                      </a:r>
                      <a:endParaRPr lang="zh-TW" altLang="en-US">
                        <a:latin typeface="標楷體" panose="03000509000000000000" charset="-120"/>
                        <a:ea typeface="標楷體" panose="03000509000000000000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>
                        <a:latin typeface="標楷體" panose="03000509000000000000" charset="-120"/>
                        <a:ea typeface="標楷體" panose="03000509000000000000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>
                          <a:latin typeface="標楷體" panose="03000509000000000000" charset="-120"/>
                          <a:ea typeface="標楷體" panose="03000509000000000000" charset="-120"/>
                        </a:rPr>
                        <a:t>背景</a:t>
                      </a:r>
                      <a:endParaRPr lang="zh-TW" altLang="en-US">
                        <a:latin typeface="標楷體" panose="03000509000000000000" charset="-120"/>
                        <a:ea typeface="標楷體" panose="03000509000000000000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>
                          <a:latin typeface="標楷體" panose="03000509000000000000" charset="-120"/>
                          <a:ea typeface="標楷體" panose="03000509000000000000" charset="-120"/>
                        </a:rPr>
                        <a:t>字級</a:t>
                      </a:r>
                      <a:endParaRPr lang="zh-TW" altLang="en-US">
                        <a:latin typeface="標楷體" panose="03000509000000000000" charset="-120"/>
                        <a:ea typeface="標楷體" panose="03000509000000000000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>
                          <a:latin typeface="標楷體" panose="03000509000000000000" charset="-120"/>
                          <a:ea typeface="標楷體" panose="03000509000000000000" charset="-120"/>
                        </a:rPr>
                        <a:t>範例</a:t>
                      </a:r>
                      <a:endParaRPr lang="zh-TW" altLang="en-US">
                        <a:latin typeface="標楷體" panose="03000509000000000000" charset="-120"/>
                        <a:ea typeface="標楷體" panose="03000509000000000000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頁面大標</a:t>
                      </a:r>
                      <a:endParaRPr lang="zh-TW" altLang="en-US" sz="16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TW" sz="16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black</a:t>
                      </a:r>
                      <a:endParaRPr lang="en-US" altLang="zh-TW" sz="16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TW" sz="16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16px</a:t>
                      </a:r>
                      <a:endParaRPr lang="en-US" altLang="zh-TW" sz="16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修改客戶</a:t>
                      </a:r>
                      <a:endParaRPr lang="zh-TW" altLang="en-US" sz="16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選單</a:t>
                      </a:r>
                      <a:endParaRPr lang="zh-TW" altLang="en-US" sz="16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TW" sz="16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white</a:t>
                      </a:r>
                      <a:endParaRPr lang="en-US" altLang="zh-TW" sz="16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+mn-ea"/>
                        </a:rPr>
                        <a:t>rgb(84, 92, 100)</a:t>
                      </a:r>
                      <a:endParaRPr lang="en-US" altLang="zh-TW" sz="16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14px</a:t>
                      </a:r>
                      <a:endParaRPr lang="en-US" altLang="zh-TW" sz="16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600" b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基本資料</a:t>
                      </a:r>
                      <a:endParaRPr lang="zh-TW" altLang="en-US" sz="1600" b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545C64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選單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已選取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rgb(255,208,75)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rgb(84, 92, 100)</a:t>
                      </a:r>
                      <a:endParaRPr lang="en-US" altLang="zh-TW" sz="16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14px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600">
                          <a:solidFill>
                            <a:srgbClr val="FFD04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基本資料</a:t>
                      </a:r>
                      <a:endParaRPr lang="zh-TW" altLang="en-US" sz="1600">
                        <a:solidFill>
                          <a:srgbClr val="FFD04B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545C64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標準文字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black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14px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客戶代號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600" b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摺疊選單</a:t>
                      </a:r>
                      <a:endParaRPr lang="zh-TW" altLang="en-US" sz="1600" b="1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600" b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Bold</a:t>
                      </a:r>
                      <a:endParaRPr lang="en-US" altLang="zh-TW" sz="1600" b="1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600" b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black</a:t>
                      </a:r>
                      <a:endParaRPr lang="en-US" altLang="zh-TW" sz="1600" b="1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TW" sz="1600" b="1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600" b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19.5px</a:t>
                      </a:r>
                      <a:endParaRPr lang="en-US" altLang="zh-TW" sz="1600" b="1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600" b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客戶法定代理人</a:t>
                      </a:r>
                      <a:endParaRPr lang="zh-TW" altLang="en-US" sz="1600" b="1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20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錯誤訊息</a:t>
                      </a:r>
                      <a:endParaRPr lang="zh-TW" altLang="en-US" sz="120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 sz="120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20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red</a:t>
                      </a:r>
                      <a:endParaRPr lang="en-US" altLang="zh-TW" sz="120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 sz="120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20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12px</a:t>
                      </a:r>
                      <a:endParaRPr lang="en-US" altLang="zh-TW" sz="120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20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輸入格式錯誤</a:t>
                      </a:r>
                      <a:endParaRPr lang="zh-TW" altLang="en-US" sz="120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禁止使用</a:t>
                      </a:r>
                      <a:endParaRPr lang="zh-TW" altLang="en-US" sz="14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TW" sz="14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black</a:t>
                      </a:r>
                      <a:endParaRPr lang="en-US" altLang="zh-TW" sz="14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 b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rgb(245,247,250)</a:t>
                      </a:r>
                      <a:endParaRPr lang="en-US" altLang="zh-TW" sz="1400" b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14px</a:t>
                      </a:r>
                      <a:endParaRPr lang="en-US" altLang="zh-TW" sz="14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啟用</a:t>
                      </a:r>
                      <a:endParaRPr lang="zh-TW" altLang="en-US" sz="14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518795" y="5665470"/>
            <a:ext cx="7110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/>
              <a:t>備註</a:t>
            </a:r>
            <a:r>
              <a:rPr lang="en-US" altLang="zh-TW"/>
              <a:t>1: </a:t>
            </a:r>
            <a:r>
              <a:rPr lang="zh-TW" altLang="en-US"/>
              <a:t>頁面以</a:t>
            </a:r>
            <a:r>
              <a:rPr lang="en-US" altLang="zh-TW"/>
              <a:t>RWD</a:t>
            </a:r>
            <a:r>
              <a:rPr lang="zh-TW" altLang="en-US"/>
              <a:t>設計，此處列出為解析度</a:t>
            </a:r>
            <a:r>
              <a:rPr lang="en-US" altLang="zh-TW"/>
              <a:t>1024*768</a:t>
            </a:r>
            <a:r>
              <a:rPr lang="zh-TW" altLang="en-US"/>
              <a:t>設計規範</a:t>
            </a:r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1635" y="3718560"/>
            <a:ext cx="1905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顏色 </a:t>
            </a:r>
            <a:r>
              <a:rPr lang="en-US" altLang="zh-TW"/>
              <a:t>Colors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591820" y="801370"/>
            <a:ext cx="955040" cy="1282700"/>
            <a:chOff x="932" y="1262"/>
            <a:chExt cx="1504" cy="2020"/>
          </a:xfrm>
        </p:grpSpPr>
        <p:sp>
          <p:nvSpPr>
            <p:cNvPr id="5" name="矩形 4"/>
            <p:cNvSpPr/>
            <p:nvPr/>
          </p:nvSpPr>
          <p:spPr>
            <a:xfrm>
              <a:off x="965" y="1262"/>
              <a:ext cx="1440" cy="144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932" y="2702"/>
              <a:ext cx="150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TW"/>
                <a:t>000000</a:t>
              </a:r>
              <a:endParaRPr lang="en-US" altLang="zh-TW"/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1917065" y="801370"/>
            <a:ext cx="955675" cy="1282700"/>
            <a:chOff x="932" y="1262"/>
            <a:chExt cx="1505" cy="2020"/>
          </a:xfrm>
        </p:grpSpPr>
        <p:sp>
          <p:nvSpPr>
            <p:cNvPr id="9" name="矩形 8"/>
            <p:cNvSpPr/>
            <p:nvPr/>
          </p:nvSpPr>
          <p:spPr>
            <a:xfrm>
              <a:off x="965" y="1262"/>
              <a:ext cx="1440" cy="1440"/>
            </a:xfrm>
            <a:prstGeom prst="rect">
              <a:avLst/>
            </a:prstGeom>
            <a:solidFill>
              <a:srgbClr val="545C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932" y="2702"/>
              <a:ext cx="1505" cy="580"/>
            </a:xfrm>
            <a:prstGeom prst="rect">
              <a:avLst/>
            </a:prstGeom>
            <a:noFill/>
            <a:ln>
              <a:solidFill>
                <a:srgbClr val="545C64"/>
              </a:solidFill>
            </a:ln>
          </p:spPr>
          <p:txBody>
            <a:bodyPr wrap="square" rtlCol="0">
              <a:spAutoFit/>
            </a:bodyPr>
            <a:p>
              <a:r>
                <a:rPr lang="en-US" altLang="zh-TW">
                  <a:solidFill>
                    <a:schemeClr val="bg1">
                      <a:lumMod val="50000"/>
                    </a:schemeClr>
                  </a:solidFill>
                </a:rPr>
                <a:t>545c64</a:t>
              </a:r>
              <a:endParaRPr lang="en-US" altLang="zh-TW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3228975" y="801370"/>
            <a:ext cx="955675" cy="1282700"/>
            <a:chOff x="932" y="1262"/>
            <a:chExt cx="1505" cy="2020"/>
          </a:xfrm>
        </p:grpSpPr>
        <p:sp>
          <p:nvSpPr>
            <p:cNvPr id="12" name="矩形 11"/>
            <p:cNvSpPr/>
            <p:nvPr/>
          </p:nvSpPr>
          <p:spPr>
            <a:xfrm>
              <a:off x="965" y="1262"/>
              <a:ext cx="1440" cy="1440"/>
            </a:xfrm>
            <a:prstGeom prst="rect">
              <a:avLst/>
            </a:prstGeom>
            <a:solidFill>
              <a:srgbClr val="FFD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932" y="2702"/>
              <a:ext cx="150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TW">
                  <a:solidFill>
                    <a:srgbClr val="FFD04B"/>
                  </a:solidFill>
                </a:rPr>
                <a:t>ffd04b</a:t>
              </a:r>
              <a:endParaRPr lang="en-US" altLang="zh-TW">
                <a:solidFill>
                  <a:srgbClr val="FFD04B"/>
                </a:solidFill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4516120" y="801370"/>
            <a:ext cx="955675" cy="1282700"/>
            <a:chOff x="932" y="1262"/>
            <a:chExt cx="1505" cy="2020"/>
          </a:xfrm>
        </p:grpSpPr>
        <p:sp>
          <p:nvSpPr>
            <p:cNvPr id="15" name="矩形 14"/>
            <p:cNvSpPr/>
            <p:nvPr/>
          </p:nvSpPr>
          <p:spPr>
            <a:xfrm>
              <a:off x="965" y="1262"/>
              <a:ext cx="1440" cy="144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932" y="2702"/>
              <a:ext cx="150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TW">
                  <a:solidFill>
                    <a:srgbClr val="0000FF"/>
                  </a:solidFill>
                </a:rPr>
                <a:t>0000ff</a:t>
              </a:r>
              <a:endParaRPr lang="en-US" altLang="zh-TW">
                <a:solidFill>
                  <a:srgbClr val="0000FF"/>
                </a:solidFill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5784850" y="801370"/>
            <a:ext cx="955675" cy="1282700"/>
            <a:chOff x="932" y="1262"/>
            <a:chExt cx="1505" cy="2020"/>
          </a:xfrm>
        </p:grpSpPr>
        <p:sp>
          <p:nvSpPr>
            <p:cNvPr id="18" name="矩形 17"/>
            <p:cNvSpPr/>
            <p:nvPr/>
          </p:nvSpPr>
          <p:spPr>
            <a:xfrm>
              <a:off x="965" y="1262"/>
              <a:ext cx="1440" cy="14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932" y="2702"/>
              <a:ext cx="150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TW">
                  <a:solidFill>
                    <a:srgbClr val="FF0000"/>
                  </a:solidFill>
                </a:rPr>
                <a:t>ff0000</a:t>
              </a:r>
              <a:endParaRPr lang="en-US" altLang="zh-TW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按鈕 </a:t>
            </a:r>
            <a:r>
              <a:rPr lang="en-US" altLang="zh-TW"/>
              <a:t>Buttons</a:t>
            </a:r>
            <a:endParaRPr lang="en-US" alt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TW" altLang="en-US"/>
              <a:t>一般按鈕</a:t>
            </a:r>
            <a:endParaRPr lang="zh-TW" altLang="en-US"/>
          </a:p>
          <a:p>
            <a:endParaRPr lang="zh-TW" altLang="en-US"/>
          </a:p>
          <a:p>
            <a:r>
              <a:rPr lang="zh-TW" altLang="en-US"/>
              <a:t>文字連結</a:t>
            </a:r>
            <a:endParaRPr lang="zh-TW" altLang="en-US"/>
          </a:p>
          <a:p>
            <a:endParaRPr lang="zh-TW" altLang="en-US"/>
          </a:p>
          <a:p>
            <a:r>
              <a:rPr lang="en-US" altLang="zh-TW"/>
              <a:t>icon</a:t>
            </a:r>
            <a:r>
              <a:rPr lang="zh-TW" altLang="en-US"/>
              <a:t>文字連結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603250" y="1341120"/>
            <a:ext cx="1296035" cy="575945"/>
          </a:xfrm>
          <a:prstGeom prst="roundRect">
            <a:avLst/>
          </a:prstGeom>
          <a:solidFill>
            <a:srgbClr val="409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TW" altLang="en-US"/>
              <a:t>主要按鈕</a:t>
            </a:r>
            <a:endParaRPr lang="zh-TW" altLang="en-US"/>
          </a:p>
        </p:txBody>
      </p:sp>
      <p:sp>
        <p:nvSpPr>
          <p:cNvPr id="6" name="圓角矩形 5"/>
          <p:cNvSpPr/>
          <p:nvPr/>
        </p:nvSpPr>
        <p:spPr>
          <a:xfrm>
            <a:off x="2190115" y="1341120"/>
            <a:ext cx="1296035" cy="575945"/>
          </a:xfrm>
          <a:prstGeom prst="roundRect">
            <a:avLst/>
          </a:prstGeom>
          <a:noFill/>
          <a:ln>
            <a:solidFill>
              <a:srgbClr val="DCDFE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409E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TW" altLang="en-US">
                <a:solidFill>
                  <a:schemeClr val="tx1"/>
                </a:solidFill>
              </a:rPr>
              <a:t>次要按鈕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3776980" y="1341120"/>
            <a:ext cx="1296035" cy="575945"/>
          </a:xfrm>
          <a:prstGeom prst="roundRect">
            <a:avLst/>
          </a:prstGeom>
          <a:solidFill>
            <a:srgbClr val="909399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409E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TW" altLang="en-US">
                <a:solidFill>
                  <a:schemeClr val="bg1"/>
                </a:solidFill>
              </a:rPr>
              <a:t>無法點擊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56590" y="2652395"/>
            <a:ext cx="27635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1400" b="1">
                <a:solidFill>
                  <a:srgbClr val="0000FF"/>
                </a:solidFill>
              </a:rPr>
              <a:t>加入比較</a:t>
            </a:r>
            <a:endParaRPr lang="zh-TW" altLang="en-US" sz="1400" b="1">
              <a:solidFill>
                <a:srgbClr val="0000FF"/>
              </a:solidFill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781050" y="3694430"/>
            <a:ext cx="1229360" cy="306070"/>
            <a:chOff x="1230" y="5818"/>
            <a:chExt cx="1936" cy="482"/>
          </a:xfrm>
        </p:grpSpPr>
        <p:sp>
          <p:nvSpPr>
            <p:cNvPr id="11" name="文字方塊 10"/>
            <p:cNvSpPr txBox="1"/>
            <p:nvPr/>
          </p:nvSpPr>
          <p:spPr>
            <a:xfrm>
              <a:off x="1684" y="5818"/>
              <a:ext cx="148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TW" altLang="en-US" sz="1400" b="1">
                  <a:solidFill>
                    <a:srgbClr val="0000FF"/>
                  </a:solidFill>
                </a:rPr>
                <a:t>加入比較</a:t>
              </a:r>
              <a:endParaRPr lang="zh-TW" altLang="en-US" sz="1400" b="1">
                <a:solidFill>
                  <a:srgbClr val="0000FF"/>
                </a:solidFill>
              </a:endParaRPr>
            </a:p>
          </p:txBody>
        </p:sp>
        <p:sp>
          <p:nvSpPr>
            <p:cNvPr id="12" name="笑臉 11"/>
            <p:cNvSpPr/>
            <p:nvPr/>
          </p:nvSpPr>
          <p:spPr>
            <a:xfrm>
              <a:off x="1230" y="5818"/>
              <a:ext cx="454" cy="453"/>
            </a:xfrm>
            <a:prstGeom prst="smileyFace">
              <a:avLst/>
            </a:prstGeom>
            <a:noFill/>
            <a:ln>
              <a:solidFill>
                <a:srgbClr val="0000F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/>
            </a:p>
          </p:txBody>
        </p:sp>
      </p:grpSp>
      <p:sp>
        <p:nvSpPr>
          <p:cNvPr id="14" name="圓角矩形 13"/>
          <p:cNvSpPr/>
          <p:nvPr/>
        </p:nvSpPr>
        <p:spPr>
          <a:xfrm>
            <a:off x="5369560" y="1341120"/>
            <a:ext cx="1296035" cy="575945"/>
          </a:xfrm>
          <a:prstGeom prst="roundRect">
            <a:avLst/>
          </a:prstGeom>
          <a:solidFill>
            <a:srgbClr val="F56C6C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409E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TW" altLang="en-US">
                <a:solidFill>
                  <a:schemeClr val="bg1"/>
                </a:solidFill>
              </a:rPr>
              <a:t>危險按鈕</a:t>
            </a:r>
            <a:endParaRPr lang="zh-TW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按鈕 </a:t>
            </a:r>
            <a:r>
              <a:rPr lang="en-US" altLang="zh-TW"/>
              <a:t>Buttons Overview</a:t>
            </a:r>
            <a:endParaRPr lang="en-US" alt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TW" altLang="en-US"/>
              <a:t>樣式一</a:t>
            </a:r>
            <a:r>
              <a:rPr lang="en-US" altLang="zh-TW"/>
              <a:t>	</a:t>
            </a:r>
            <a:r>
              <a:rPr lang="zh-TW" altLang="en-US"/>
              <a:t>按鈕</a:t>
            </a:r>
            <a:endParaRPr lang="zh-TW" altLang="en-US"/>
          </a:p>
          <a:p>
            <a:pPr marL="0" indent="0">
              <a:buNone/>
            </a:pPr>
            <a:r>
              <a:rPr lang="zh-TW" altLang="en-US" sz="2000"/>
              <a:t>常用的放右邊</a:t>
            </a:r>
            <a:r>
              <a:rPr lang="en-US" altLang="zh-TW" sz="2000"/>
              <a:t>, </a:t>
            </a:r>
            <a:r>
              <a:rPr lang="zh-TW" altLang="en-US" sz="2000"/>
              <a:t>不常用放左邊</a:t>
            </a:r>
            <a:endParaRPr lang="zh-TW" altLang="en-US"/>
          </a:p>
          <a:p>
            <a:endParaRPr lang="zh-TW" altLang="en-US"/>
          </a:p>
          <a:p>
            <a:r>
              <a:rPr lang="zh-TW" altLang="en-US"/>
              <a:t>樣式二</a:t>
            </a:r>
            <a:r>
              <a:rPr lang="en-US" altLang="zh-TW"/>
              <a:t>	</a:t>
            </a:r>
            <a:r>
              <a:rPr lang="zh-TW" altLang="en-US"/>
              <a:t>訊息視窗</a:t>
            </a:r>
            <a:endParaRPr lang="zh-TW" altLang="en-US"/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518795" y="1685925"/>
            <a:ext cx="3887470" cy="575310"/>
            <a:chOff x="950" y="2112"/>
            <a:chExt cx="6122" cy="906"/>
          </a:xfrm>
        </p:grpSpPr>
        <p:sp>
          <p:nvSpPr>
            <p:cNvPr id="5" name="圓角矩形 4"/>
            <p:cNvSpPr/>
            <p:nvPr/>
          </p:nvSpPr>
          <p:spPr>
            <a:xfrm>
              <a:off x="5032" y="2112"/>
              <a:ext cx="2041" cy="907"/>
            </a:xfrm>
            <a:prstGeom prst="roundRect">
              <a:avLst/>
            </a:prstGeom>
            <a:solidFill>
              <a:srgbClr val="409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TW" altLang="en-US"/>
                <a:t>新增</a:t>
              </a:r>
              <a:endParaRPr lang="zh-TW" altLang="en-US"/>
            </a:p>
          </p:txBody>
        </p:sp>
        <p:sp>
          <p:nvSpPr>
            <p:cNvPr id="6" name="圓角矩形 5"/>
            <p:cNvSpPr/>
            <p:nvPr/>
          </p:nvSpPr>
          <p:spPr>
            <a:xfrm>
              <a:off x="2991" y="2112"/>
              <a:ext cx="2041" cy="907"/>
            </a:xfrm>
            <a:prstGeom prst="roundRect">
              <a:avLst/>
            </a:prstGeom>
            <a:noFill/>
            <a:ln>
              <a:solidFill>
                <a:srgbClr val="DCDFE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09EFF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TW" altLang="en-US">
                  <a:solidFill>
                    <a:schemeClr val="tx1"/>
                  </a:solidFill>
                </a:rPr>
                <a:t>取消</a:t>
              </a:r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圓角矩形 13"/>
            <p:cNvSpPr/>
            <p:nvPr/>
          </p:nvSpPr>
          <p:spPr>
            <a:xfrm>
              <a:off x="950" y="2112"/>
              <a:ext cx="2041" cy="907"/>
            </a:xfrm>
            <a:prstGeom prst="roundRect">
              <a:avLst/>
            </a:prstGeom>
            <a:solidFill>
              <a:srgbClr val="F56C6C"/>
            </a:solidFill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09EFF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TW" altLang="en-US">
                  <a:solidFill>
                    <a:schemeClr val="bg1"/>
                  </a:solidFill>
                </a:rPr>
                <a:t>刪除</a:t>
              </a:r>
              <a:endParaRPr lang="zh-TW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8" name="圖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2833370"/>
            <a:ext cx="4037965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導覽</a:t>
            </a:r>
            <a:r>
              <a:rPr lang="en-US" altLang="zh-TW"/>
              <a:t>	NavMenu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932815"/>
            <a:ext cx="5314315" cy="28378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表單</a:t>
            </a:r>
            <a:r>
              <a:rPr lang="en-US" altLang="zh-TW"/>
              <a:t>	Forms</a:t>
            </a:r>
            <a:endParaRPr lang="en-US" alt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TW" altLang="en-US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750570"/>
            <a:ext cx="4638040" cy="527621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grpSp>
        <p:nvGrpSpPr>
          <p:cNvPr id="8" name="群組 7"/>
          <p:cNvGrpSpPr/>
          <p:nvPr/>
        </p:nvGrpSpPr>
        <p:grpSpPr>
          <a:xfrm>
            <a:off x="5156835" y="4326255"/>
            <a:ext cx="1865630" cy="368300"/>
            <a:chOff x="7664" y="6858"/>
            <a:chExt cx="2938" cy="580"/>
          </a:xfrm>
        </p:grpSpPr>
        <p:sp>
          <p:nvSpPr>
            <p:cNvPr id="6" name="文字方塊 5"/>
            <p:cNvSpPr txBox="1"/>
            <p:nvPr/>
          </p:nvSpPr>
          <p:spPr>
            <a:xfrm>
              <a:off x="8174" y="6858"/>
              <a:ext cx="24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TW" altLang="en-US"/>
                <a:t>單選</a:t>
              </a:r>
              <a:endParaRPr lang="zh-TW" altLang="en-US"/>
            </a:p>
          </p:txBody>
        </p:sp>
        <p:cxnSp>
          <p:nvCxnSpPr>
            <p:cNvPr id="7" name="直線單箭頭接點 6"/>
            <p:cNvCxnSpPr/>
            <p:nvPr/>
          </p:nvCxnSpPr>
          <p:spPr>
            <a:xfrm flipH="1">
              <a:off x="7664" y="7148"/>
              <a:ext cx="51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群組 8"/>
          <p:cNvGrpSpPr/>
          <p:nvPr/>
        </p:nvGrpSpPr>
        <p:grpSpPr>
          <a:xfrm>
            <a:off x="5156835" y="2849880"/>
            <a:ext cx="1865630" cy="368300"/>
            <a:chOff x="7664" y="6858"/>
            <a:chExt cx="2938" cy="580"/>
          </a:xfrm>
        </p:grpSpPr>
        <p:sp>
          <p:nvSpPr>
            <p:cNvPr id="10" name="文字方塊 9"/>
            <p:cNvSpPr txBox="1"/>
            <p:nvPr/>
          </p:nvSpPr>
          <p:spPr>
            <a:xfrm>
              <a:off x="8174" y="6858"/>
              <a:ext cx="24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TW"/>
                <a:t>ON/OFF</a:t>
              </a:r>
              <a:endParaRPr lang="en-US" altLang="zh-TW"/>
            </a:p>
          </p:txBody>
        </p:sp>
        <p:cxnSp>
          <p:nvCxnSpPr>
            <p:cNvPr id="11" name="直線單箭頭接點 10"/>
            <p:cNvCxnSpPr/>
            <p:nvPr/>
          </p:nvCxnSpPr>
          <p:spPr>
            <a:xfrm flipH="1">
              <a:off x="7664" y="7148"/>
              <a:ext cx="51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群組 12"/>
          <p:cNvGrpSpPr/>
          <p:nvPr/>
        </p:nvGrpSpPr>
        <p:grpSpPr>
          <a:xfrm>
            <a:off x="5156835" y="3487420"/>
            <a:ext cx="1865630" cy="368300"/>
            <a:chOff x="7664" y="6858"/>
            <a:chExt cx="2938" cy="580"/>
          </a:xfrm>
        </p:grpSpPr>
        <p:sp>
          <p:nvSpPr>
            <p:cNvPr id="14" name="文字方塊 13"/>
            <p:cNvSpPr txBox="1"/>
            <p:nvPr/>
          </p:nvSpPr>
          <p:spPr>
            <a:xfrm>
              <a:off x="8174" y="6858"/>
              <a:ext cx="24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TW" altLang="en-US"/>
                <a:t>複選</a:t>
              </a:r>
              <a:endParaRPr lang="zh-TW" altLang="en-US"/>
            </a:p>
          </p:txBody>
        </p:sp>
        <p:cxnSp>
          <p:nvCxnSpPr>
            <p:cNvPr id="15" name="直線單箭頭接點 14"/>
            <p:cNvCxnSpPr/>
            <p:nvPr/>
          </p:nvCxnSpPr>
          <p:spPr>
            <a:xfrm flipH="1">
              <a:off x="7664" y="7148"/>
              <a:ext cx="51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群組 15"/>
          <p:cNvGrpSpPr/>
          <p:nvPr/>
        </p:nvGrpSpPr>
        <p:grpSpPr>
          <a:xfrm>
            <a:off x="5190490" y="4977130"/>
            <a:ext cx="1865630" cy="368300"/>
            <a:chOff x="7664" y="6858"/>
            <a:chExt cx="2938" cy="580"/>
          </a:xfrm>
        </p:grpSpPr>
        <p:sp>
          <p:nvSpPr>
            <p:cNvPr id="17" name="文字方塊 16"/>
            <p:cNvSpPr txBox="1"/>
            <p:nvPr/>
          </p:nvSpPr>
          <p:spPr>
            <a:xfrm>
              <a:off x="8174" y="6858"/>
              <a:ext cx="24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TW" altLang="en-US"/>
                <a:t>多行輸入</a:t>
              </a:r>
              <a:endParaRPr lang="zh-TW" altLang="en-US"/>
            </a:p>
          </p:txBody>
        </p:sp>
        <p:cxnSp>
          <p:nvCxnSpPr>
            <p:cNvPr id="18" name="直線單箭頭接點 17"/>
            <p:cNvCxnSpPr/>
            <p:nvPr/>
          </p:nvCxnSpPr>
          <p:spPr>
            <a:xfrm flipH="1">
              <a:off x="7664" y="7148"/>
              <a:ext cx="51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/>
          <p:cNvGrpSpPr/>
          <p:nvPr/>
        </p:nvGrpSpPr>
        <p:grpSpPr>
          <a:xfrm>
            <a:off x="5190490" y="5345430"/>
            <a:ext cx="1865630" cy="368300"/>
            <a:chOff x="7664" y="6858"/>
            <a:chExt cx="2938" cy="580"/>
          </a:xfrm>
        </p:grpSpPr>
        <p:sp>
          <p:nvSpPr>
            <p:cNvPr id="20" name="文字方塊 19"/>
            <p:cNvSpPr txBox="1"/>
            <p:nvPr/>
          </p:nvSpPr>
          <p:spPr>
            <a:xfrm>
              <a:off x="8174" y="6858"/>
              <a:ext cx="24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TW" altLang="en-US"/>
                <a:t>錯誤訊息</a:t>
              </a:r>
              <a:endParaRPr lang="zh-TW" altLang="en-US"/>
            </a:p>
          </p:txBody>
        </p:sp>
        <p:cxnSp>
          <p:nvCxnSpPr>
            <p:cNvPr id="21" name="直線單箭頭接點 20"/>
            <p:cNvCxnSpPr/>
            <p:nvPr/>
          </p:nvCxnSpPr>
          <p:spPr>
            <a:xfrm flipH="1">
              <a:off x="7664" y="7148"/>
              <a:ext cx="51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/>
          <p:cNvGrpSpPr/>
          <p:nvPr/>
        </p:nvGrpSpPr>
        <p:grpSpPr>
          <a:xfrm>
            <a:off x="5190490" y="2167255"/>
            <a:ext cx="2265680" cy="368300"/>
            <a:chOff x="7664" y="6858"/>
            <a:chExt cx="3568" cy="580"/>
          </a:xfrm>
        </p:grpSpPr>
        <p:sp>
          <p:nvSpPr>
            <p:cNvPr id="23" name="文字方塊 22"/>
            <p:cNvSpPr txBox="1"/>
            <p:nvPr/>
          </p:nvSpPr>
          <p:spPr>
            <a:xfrm>
              <a:off x="8174" y="6858"/>
              <a:ext cx="30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TW" altLang="en-US"/>
                <a:t>日期</a:t>
              </a:r>
              <a:r>
                <a:rPr lang="en-US" altLang="zh-TW"/>
                <a:t>(</a:t>
              </a:r>
              <a:r>
                <a:rPr lang="zh-TW" altLang="en-US"/>
                <a:t>提示訊息</a:t>
              </a:r>
              <a:r>
                <a:rPr lang="en-US" altLang="zh-TW"/>
                <a:t>)</a:t>
              </a:r>
              <a:endParaRPr lang="en-US" altLang="zh-TW"/>
            </a:p>
          </p:txBody>
        </p:sp>
        <p:cxnSp>
          <p:nvCxnSpPr>
            <p:cNvPr id="24" name="直線單箭頭接點 23"/>
            <p:cNvCxnSpPr/>
            <p:nvPr/>
          </p:nvCxnSpPr>
          <p:spPr>
            <a:xfrm flipH="1">
              <a:off x="7664" y="7148"/>
              <a:ext cx="51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5190490" y="1565910"/>
            <a:ext cx="1865630" cy="368300"/>
            <a:chOff x="7664" y="6858"/>
            <a:chExt cx="2938" cy="580"/>
          </a:xfrm>
        </p:grpSpPr>
        <p:sp>
          <p:nvSpPr>
            <p:cNvPr id="26" name="文字方塊 25"/>
            <p:cNvSpPr txBox="1"/>
            <p:nvPr/>
          </p:nvSpPr>
          <p:spPr>
            <a:xfrm>
              <a:off x="8174" y="6858"/>
              <a:ext cx="24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TW" altLang="en-US"/>
                <a:t>下拉選單</a:t>
              </a:r>
              <a:endParaRPr lang="zh-TW" altLang="en-US"/>
            </a:p>
          </p:txBody>
        </p:sp>
        <p:cxnSp>
          <p:nvCxnSpPr>
            <p:cNvPr id="27" name="直線單箭頭接點 26"/>
            <p:cNvCxnSpPr/>
            <p:nvPr/>
          </p:nvCxnSpPr>
          <p:spPr>
            <a:xfrm flipH="1">
              <a:off x="7664" y="7148"/>
              <a:ext cx="51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5190490" y="1016000"/>
            <a:ext cx="1865630" cy="368300"/>
            <a:chOff x="7664" y="6858"/>
            <a:chExt cx="2938" cy="580"/>
          </a:xfrm>
        </p:grpSpPr>
        <p:sp>
          <p:nvSpPr>
            <p:cNvPr id="29" name="文字方塊 28"/>
            <p:cNvSpPr txBox="1"/>
            <p:nvPr/>
          </p:nvSpPr>
          <p:spPr>
            <a:xfrm>
              <a:off x="8174" y="6858"/>
              <a:ext cx="24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TW" altLang="en-US"/>
                <a:t>單行輸入</a:t>
              </a:r>
              <a:endParaRPr lang="zh-TW" altLang="en-US"/>
            </a:p>
          </p:txBody>
        </p:sp>
        <p:cxnSp>
          <p:nvCxnSpPr>
            <p:cNvPr id="30" name="直線單箭頭接點 29"/>
            <p:cNvCxnSpPr/>
            <p:nvPr/>
          </p:nvCxnSpPr>
          <p:spPr>
            <a:xfrm flipH="1">
              <a:off x="7664" y="7148"/>
              <a:ext cx="51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月曆 </a:t>
            </a:r>
            <a:r>
              <a:rPr lang="en-US" altLang="zh-TW"/>
              <a:t>Calendar</a:t>
            </a:r>
            <a:endParaRPr lang="en-US" alt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TW" altLang="en-US"/>
              <a:t>儲存格式：西元年</a:t>
            </a:r>
            <a:r>
              <a:rPr lang="en-US" altLang="zh-TW"/>
              <a:t>( 2020/6/15)</a:t>
            </a:r>
            <a:endParaRPr lang="en-US" altLang="zh-TW"/>
          </a:p>
          <a:p>
            <a:r>
              <a:rPr lang="zh-TW" altLang="en-US"/>
              <a:t>純顯示： 西元年  </a:t>
            </a:r>
            <a:r>
              <a:rPr lang="en-US" altLang="zh-TW"/>
              <a:t>2020-05-21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1847850"/>
            <a:ext cx="4237990" cy="37712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表格 </a:t>
            </a:r>
            <a:r>
              <a:rPr lang="en-US" altLang="zh-TW"/>
              <a:t>Tables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880745"/>
            <a:ext cx="9447530" cy="1381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4294967295"/>
          </p:nvPr>
        </p:nvSpPr>
        <p:spPr>
          <a:xfrm>
            <a:off x="7010400" y="284163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2050" name="Picture 2" descr="https://timesharepresentationdeals.com/wp-content/uploads/2016/01/ThankYouScriptPNG150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2924944"/>
            <a:ext cx="2016224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</Words>
  <Application>WPS Presentation</Application>
  <PresentationFormat>如螢幕大小 (4:3)</PresentationFormat>
  <Paragraphs>180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新細明體</vt:lpstr>
      <vt:lpstr>Wingdings</vt:lpstr>
      <vt:lpstr>微軟正黑體</vt:lpstr>
      <vt:lpstr>Times New Roman</vt:lpstr>
      <vt:lpstr>Microsoft JhengHei UI</vt:lpstr>
      <vt:lpstr>Times New Roman</vt:lpstr>
      <vt:lpstr>標楷體</vt:lpstr>
      <vt:lpstr>Microsoft YaHei</vt:lpstr>
      <vt:lpstr>SimSun</vt:lpstr>
      <vt:lpstr>Arial Unicode MS</vt:lpstr>
      <vt:lpstr>Calibri</vt:lpstr>
      <vt:lpstr>新細明體</vt:lpstr>
      <vt:lpstr>Office 佈景主題</vt:lpstr>
      <vt:lpstr>PowerPoint 演示文稿</vt:lpstr>
      <vt:lpstr>PowerPoint 演示文稿</vt:lpstr>
      <vt:lpstr>文字 Typography</vt:lpstr>
      <vt:lpstr>顏色 Colors</vt:lpstr>
      <vt:lpstr>按鈕 Buttons</vt:lpstr>
      <vt:lpstr>按鈕 Buttons Overview</vt:lpstr>
      <vt:lpstr>導覽	NavMenu</vt:lpstr>
      <vt:lpstr>表單	Forms</vt:lpstr>
      <vt:lpstr>月曆 Calendar</vt:lpstr>
      <vt:lpstr>表格 Tables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Thomas Lo</dc:creator>
  <cp:lastModifiedBy>A191101</cp:lastModifiedBy>
  <cp:revision>751</cp:revision>
  <cp:lastPrinted>2017-06-07T08:55:00Z</cp:lastPrinted>
  <dcterms:created xsi:type="dcterms:W3CDTF">2015-10-29T07:23:00Z</dcterms:created>
  <dcterms:modified xsi:type="dcterms:W3CDTF">2020-08-21T02:20:45Z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1028-10.8.2.6633</vt:lpwstr>
  </property>
</Properties>
</file>